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234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" y="171907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화면정의서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DE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Spring Boot + Redis + Mosquitto 기반 통합 생산관리시스템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13232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1878439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69879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06455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135086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26526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63102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4391733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83173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19749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생산실적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648379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739819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76395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905026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96466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33042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8161673" y="410108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53113" y="3886200"/>
            <a:ext cx="1146919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9689" y="4005072"/>
            <a:ext cx="1073767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3232" y="6080760"/>
            <a:ext cx="6035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v0.1  |  화면 구조 · 기능 · 권한 · API · MQTT 구독 정의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개요 및 설계 범위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실제 화면에서 수행하는 업무, 권한, API, MQTT 구독 흐름을 정의합니다.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4721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856232"/>
            <a:ext cx="29718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MES 화면 목록과 메뉴 구조 정의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화면별 주요 기능과 입력/출력 항목 정의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 권한에 따른 메뉴 노출 범위 정의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REST API와 MQTT 구독 연결점 정리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343400" y="132588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14721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전제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0" y="1856232"/>
            <a:ext cx="29718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React는 MQTT Subscribe 전용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업무 변경은 Spring Boot REST API만 사용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Mosquitto는 Dynamic Security 기반 ACL 적용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Redis로 중복접속, Rate Limit, MQTT Grant 관리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02752" y="1472184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범위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1856232"/>
            <a:ext cx="2971800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대시보드, 기준정보, 입출고/재고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생산계획, 작업지시, 현장작업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LOT 추적, 품질/HACCP/CIP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 모니터링, 알람, 장비보전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사용자/권한, 감사로그, 보안 이벤트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메뉴 구조 IA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권한별 메뉴 노출과 라우팅 설계의 기준이 되는 정보구조입니다.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E6FF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721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87909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21792" y="212140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17170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21792" y="241401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4643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21792" y="270662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275691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재고/품질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337560" y="13258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02152" y="14721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기준정보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02152" y="182880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75304" y="187909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3502152" y="212140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217170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공정/라우팅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3502152" y="241401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24643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3502152" y="270662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275691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창고/위치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217920" y="13258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82512" y="14721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입출고·재고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82512" y="182880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187909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6382512" y="212140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55664" y="217170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재고조회</a:t>
            </a:r>
            <a:endParaRPr lang="en-US" sz="720" dirty="0"/>
          </a:p>
        </p:txBody>
      </p:sp>
      <p:sp>
        <p:nvSpPr>
          <p:cNvPr id="34" name="Shape 32"/>
          <p:cNvSpPr/>
          <p:nvPr/>
        </p:nvSpPr>
        <p:spPr>
          <a:xfrm>
            <a:off x="6382512" y="241401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55664" y="24643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재고이동/조정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6382512" y="270662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275691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9098280" y="132588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62872" y="147218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생산관리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62872" y="182880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336024" y="187909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9262872" y="212140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36024" y="217170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9262872" y="241401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36024" y="246430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공정실적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9262872" y="270662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36024" y="275691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 추적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457200" y="3566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1792" y="37124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21792" y="406908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" y="411937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621792" y="436168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" y="441198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621792" y="465429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4944" y="470458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CIP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621792" y="494690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" y="499719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3337560" y="3566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02152" y="37124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설비관리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502152" y="406908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75304" y="411937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3502152" y="436168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75304" y="441198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3502152" y="465429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575304" y="470458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3502152" y="494690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575304" y="499719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수리이력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6217920" y="3566160"/>
            <a:ext cx="2560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82512" y="3712464"/>
            <a:ext cx="2231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382512" y="4069080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55664" y="4119372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6382512" y="4361688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55664" y="4411980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권한/메뉴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6382512" y="4654296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55664" y="4704588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감사로그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6382512" y="4946904"/>
            <a:ext cx="2212848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55664" y="4997196"/>
            <a:ext cx="20665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보안이벤트</a:t>
            </a:r>
            <a:endParaRPr lang="en-US" sz="720" dirty="0"/>
          </a:p>
        </p:txBody>
      </p:sp>
      <p:sp>
        <p:nvSpPr>
          <p:cNvPr id="78" name="Text 76"/>
          <p:cNvSpPr/>
          <p:nvPr/>
        </p:nvSpPr>
        <p:spPr>
          <a:xfrm>
            <a:off x="685800" y="6199632"/>
            <a:ext cx="10515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 노출은 /api/me/menus 응답 기반, 실제 권한은 Spring Security와 MQTT ACL에서 재검증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화면 레이아웃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PC 화면 기준 공통 헤더, 사이드바, 검색영역, 목록/상세 패턴입니다.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73152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34440"/>
            <a:ext cx="731520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4672" y="1353312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1353312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1353312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335024"/>
            <a:ext cx="6400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관리자 레이아웃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640080" y="1581912"/>
            <a:ext cx="1417320" cy="4087368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182880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메뉴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841248" y="224028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기준정보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41248" y="265176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생산관리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41248" y="306324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재고관리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41248" y="347472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설비관리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841248" y="3886200"/>
            <a:ext cx="9601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5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331720" y="1828800"/>
            <a:ext cx="5349240" cy="594360"/>
          </a:xfrm>
          <a:prstGeom prst="roundRect">
            <a:avLst>
              <a:gd name="adj" fmla="val 7692"/>
            </a:avLst>
          </a:prstGeom>
          <a:solidFill>
            <a:srgbClr val="E8F2FF"/>
          </a:solidFill>
          <a:ln w="12700">
            <a:solidFill>
              <a:srgbClr val="E8F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2039112"/>
            <a:ext cx="47548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조건 영역: 기간, 상태, 품목, 설비, LOT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331720" y="2651760"/>
            <a:ext cx="534924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14600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3227832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3941064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품목/설비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4654296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</a:t>
            </a:r>
            <a:endParaRPr lang="en-US" sz="580" dirty="0"/>
          </a:p>
        </p:txBody>
      </p:sp>
      <p:sp>
        <p:nvSpPr>
          <p:cNvPr id="28" name="Text 26"/>
          <p:cNvSpPr/>
          <p:nvPr/>
        </p:nvSpPr>
        <p:spPr>
          <a:xfrm>
            <a:off x="5367528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</a:t>
            </a:r>
            <a:endParaRPr lang="en-US" sz="580" dirty="0"/>
          </a:p>
        </p:txBody>
      </p:sp>
      <p:sp>
        <p:nvSpPr>
          <p:cNvPr id="29" name="Text 27"/>
          <p:cNvSpPr/>
          <p:nvPr/>
        </p:nvSpPr>
        <p:spPr>
          <a:xfrm>
            <a:off x="6080760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6793992" y="2880360"/>
            <a:ext cx="621792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5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2487168" y="3136392"/>
            <a:ext cx="4800600" cy="0"/>
          </a:xfrm>
          <a:prstGeom prst="line">
            <a:avLst/>
          </a:prstGeom>
          <a:noFill/>
          <a:ln w="7620">
            <a:solidFill>
              <a:srgbClr val="E9ED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87168" y="3483864"/>
            <a:ext cx="4800600" cy="0"/>
          </a:xfrm>
          <a:prstGeom prst="line">
            <a:avLst/>
          </a:prstGeom>
          <a:noFill/>
          <a:ln w="7620">
            <a:solidFill>
              <a:srgbClr val="E9ED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87168" y="3831336"/>
            <a:ext cx="4800600" cy="0"/>
          </a:xfrm>
          <a:prstGeom prst="line">
            <a:avLst/>
          </a:prstGeom>
          <a:noFill/>
          <a:ln w="7620">
            <a:solidFill>
              <a:srgbClr val="E9ED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487168" y="4178808"/>
            <a:ext cx="4800600" cy="0"/>
          </a:xfrm>
          <a:prstGeom prst="line">
            <a:avLst/>
          </a:prstGeom>
          <a:noFill/>
          <a:ln w="7620">
            <a:solidFill>
              <a:srgbClr val="E9ED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487168" y="4526280"/>
            <a:ext cx="4800600" cy="0"/>
          </a:xfrm>
          <a:prstGeom prst="line">
            <a:avLst/>
          </a:prstGeom>
          <a:noFill/>
          <a:ln w="7620">
            <a:solidFill>
              <a:srgbClr val="E9ED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66760" y="1325880"/>
            <a:ext cx="914400" cy="877824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94192" y="1615562"/>
            <a:ext cx="8595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구역</a:t>
            </a:r>
            <a:endParaRPr lang="en-US" sz="770" dirty="0"/>
          </a:p>
        </p:txBody>
      </p:sp>
      <p:sp>
        <p:nvSpPr>
          <p:cNvPr id="38" name="Shape 36"/>
          <p:cNvSpPr/>
          <p:nvPr/>
        </p:nvSpPr>
        <p:spPr>
          <a:xfrm>
            <a:off x="9281160" y="1325880"/>
            <a:ext cx="2286000" cy="877824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08592" y="1615562"/>
            <a:ext cx="22311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8366760" y="2203704"/>
            <a:ext cx="914400" cy="877824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94192" y="2493386"/>
            <a:ext cx="8595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헤더</a:t>
            </a:r>
            <a:endParaRPr lang="en-US" sz="770" dirty="0"/>
          </a:p>
        </p:txBody>
      </p:sp>
      <p:sp>
        <p:nvSpPr>
          <p:cNvPr id="42" name="Shape 40"/>
          <p:cNvSpPr/>
          <p:nvPr/>
        </p:nvSpPr>
        <p:spPr>
          <a:xfrm>
            <a:off x="9281160" y="2203704"/>
            <a:ext cx="2286000" cy="877824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08592" y="2493386"/>
            <a:ext cx="22311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사용자명, 알림, 로그아웃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8366760" y="3081528"/>
            <a:ext cx="914400" cy="877824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94192" y="3371210"/>
            <a:ext cx="8595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사이드바</a:t>
            </a:r>
            <a:endParaRPr lang="en-US" sz="770" dirty="0"/>
          </a:p>
        </p:txBody>
      </p:sp>
      <p:sp>
        <p:nvSpPr>
          <p:cNvPr id="46" name="Shape 44"/>
          <p:cNvSpPr/>
          <p:nvPr/>
        </p:nvSpPr>
        <p:spPr>
          <a:xfrm>
            <a:off x="9281160" y="3081528"/>
            <a:ext cx="2286000" cy="877824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08592" y="3371210"/>
            <a:ext cx="22311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권한별 메뉴 자동 렌더링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8366760" y="3959352"/>
            <a:ext cx="914400" cy="877824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4249034"/>
            <a:ext cx="8595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9281160" y="3959352"/>
            <a:ext cx="2286000" cy="877824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308592" y="4249034"/>
            <a:ext cx="22311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→ 목록 → 상세/등록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8366760" y="4837176"/>
            <a:ext cx="914400" cy="877824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94192" y="5126858"/>
            <a:ext cx="8595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9281160" y="4837176"/>
            <a:ext cx="2286000" cy="877824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308592" y="5126858"/>
            <a:ext cx="2231136" cy="3160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엑셀, 첨부, 권한 버튼 제어</a:t>
            </a:r>
            <a:endParaRPr lang="en-US" sz="77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AUTH-001 로그인 / 최초 비밀번호 변경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없이 운영자가 발급한 계정으로 로그인합니다.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/login, /change-password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사용자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/api/auth/login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아이디/비밀번호 로그인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최초 로그인 시 비밀번호 변경 강제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로그인 실패 횟수 제한 및 계정 잠금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Redis 기반 중복접속 차단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운영자 생성 계정만 로그인 가능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실패 5회 이상 잠금 정책 검토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852160" y="2167128"/>
            <a:ext cx="36576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31343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Login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2898648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아이디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903720" y="278892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401568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903720" y="3291840"/>
            <a:ext cx="2148840" cy="310896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72200" y="3995928"/>
            <a:ext cx="2880360" cy="384048"/>
          </a:xfrm>
          <a:prstGeom prst="roundRect">
            <a:avLst>
              <a:gd name="adj" fmla="val 16667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4123944"/>
            <a:ext cx="28803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DASH-001 메인 대시보드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생산, 설비, 재고, 품질 상태를 한 화면에서 요약합니다.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/dashboard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ADMIN, MANAGER, VIEWER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/api/dashboard/summary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mes/ui/site/{site}/dashboard/#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금일 생산량, 설비 가동률, 알람 건수 표시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작업지시 진행 현황 요약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재고 부족/품질 이상 카드 표시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집계 Topic으로 MQTT Subscribe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대시보드는 세부 센서 Topic 직접 구독 금지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권한별 카드 노출 제어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대시보드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4924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211226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금일 생산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23560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1,240 kg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5800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22592" y="211226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가동률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132320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6676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31352" y="211226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641080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3건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987552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40112" y="2112264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10149840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5품목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349240" y="3127248"/>
            <a:ext cx="28346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27355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 진행률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657600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WO-001</a:t>
            </a:r>
            <a:endParaRPr lang="en-US" sz="620" dirty="0"/>
          </a:p>
        </p:txBody>
      </p:sp>
      <p:sp>
        <p:nvSpPr>
          <p:cNvPr id="46" name="Shape 44"/>
          <p:cNvSpPr/>
          <p:nvPr/>
        </p:nvSpPr>
        <p:spPr>
          <a:xfrm>
            <a:off x="6309360" y="3648456"/>
            <a:ext cx="1508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09360" y="3648456"/>
            <a:ext cx="594360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77840" y="4005072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WO-002</a:t>
            </a:r>
            <a:endParaRPr lang="en-US" sz="620" dirty="0"/>
          </a:p>
        </p:txBody>
      </p:sp>
      <p:sp>
        <p:nvSpPr>
          <p:cNvPr id="49" name="Shape 47"/>
          <p:cNvSpPr/>
          <p:nvPr/>
        </p:nvSpPr>
        <p:spPr>
          <a:xfrm>
            <a:off x="6309360" y="3995928"/>
            <a:ext cx="1508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9360" y="3995928"/>
            <a:ext cx="813816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4352544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WO-003</a:t>
            </a:r>
            <a:endParaRPr lang="en-US" sz="620" dirty="0"/>
          </a:p>
        </p:txBody>
      </p:sp>
      <p:sp>
        <p:nvSpPr>
          <p:cNvPr id="52" name="Shape 50"/>
          <p:cNvSpPr/>
          <p:nvPr/>
        </p:nvSpPr>
        <p:spPr>
          <a:xfrm>
            <a:off x="6309360" y="4343400"/>
            <a:ext cx="1508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09360" y="4343400"/>
            <a:ext cx="1033272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77840" y="4700016"/>
            <a:ext cx="731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WO-004</a:t>
            </a:r>
            <a:endParaRPr lang="en-US" sz="620" dirty="0"/>
          </a:p>
        </p:txBody>
      </p:sp>
      <p:sp>
        <p:nvSpPr>
          <p:cNvPr id="55" name="Shape 53"/>
          <p:cNvSpPr/>
          <p:nvPr/>
        </p:nvSpPr>
        <p:spPr>
          <a:xfrm>
            <a:off x="6309360" y="4690872"/>
            <a:ext cx="15087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309360" y="4690872"/>
            <a:ext cx="1252728" cy="109728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3127248"/>
            <a:ext cx="26517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22792" y="327355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알람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732520" y="3675888"/>
            <a:ext cx="205740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05672" y="372618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추출기 온도 상한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732520" y="4087368"/>
            <a:ext cx="205740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05672" y="413766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카딩기 정지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8732520" y="4498848"/>
            <a:ext cx="205740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05672" y="454914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재고 부족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SYS-001 사용자 / 권한 / 메뉴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사용자를 생성하고 Role, 메뉴, API 권한을 부여합니다.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/admin/users, /admin/roles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SUPER_ADMIN,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POST/PATCH /api/admin/users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사용자 생성 및 임시 비밀번호 발급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Role 부여, 계정 잠금/해제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메뉴 권한과 API 권한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SUPER_ADMIN 보호 정책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SUPER_ADMIN 삭제/비활성화 제한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 변경 시 감사로그 필수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관리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349240" y="2121408"/>
            <a:ext cx="1554480" cy="4343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226474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903720" y="2121408"/>
            <a:ext cx="1554480" cy="4343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31152" y="226474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8458200" y="2121408"/>
            <a:ext cx="1188720" cy="4343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85632" y="2264740"/>
            <a:ext cx="11338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9646920" y="2121408"/>
            <a:ext cx="1645920" cy="4343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4352" y="2264740"/>
            <a:ext cx="15910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349240" y="2555748"/>
            <a:ext cx="155448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269908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903720" y="2555748"/>
            <a:ext cx="155448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31152" y="269908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8458200" y="2555748"/>
            <a:ext cx="118872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2699080"/>
            <a:ext cx="11338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9646920" y="2555748"/>
            <a:ext cx="164592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74352" y="2699080"/>
            <a:ext cx="15910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349240" y="2990088"/>
            <a:ext cx="1554480" cy="4343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313342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6903720" y="2990088"/>
            <a:ext cx="1554480" cy="4343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31152" y="313342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8458200" y="2990088"/>
            <a:ext cx="1188720" cy="4343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85632" y="3133420"/>
            <a:ext cx="11338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9646920" y="2990088"/>
            <a:ext cx="1645920" cy="4343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74352" y="3133420"/>
            <a:ext cx="15910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5349240" y="3424428"/>
            <a:ext cx="155448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356776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6903720" y="3424428"/>
            <a:ext cx="155448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931152" y="3567760"/>
            <a:ext cx="149961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8458200" y="3424428"/>
            <a:ext cx="118872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485632" y="3567760"/>
            <a:ext cx="11338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9646920" y="3424428"/>
            <a:ext cx="1645920" cy="4343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674352" y="3567760"/>
            <a:ext cx="1591056" cy="15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5349240" y="4407408"/>
            <a:ext cx="1064362" cy="429768"/>
          </a:xfrm>
          <a:prstGeom prst="roundRect">
            <a:avLst>
              <a:gd name="adj" fmla="val 17021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85816" y="4526280"/>
            <a:ext cx="99121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생성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431890" y="462229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6523330" y="4407408"/>
            <a:ext cx="106436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59906" y="4526280"/>
            <a:ext cx="99121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PW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605979" y="462229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697419" y="4407408"/>
            <a:ext cx="106436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33995" y="4526280"/>
            <a:ext cx="99121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 부여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780069" y="462229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8871509" y="4407408"/>
            <a:ext cx="106436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08085" y="4526280"/>
            <a:ext cx="99121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최초변경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9954158" y="462229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10045598" y="4407408"/>
            <a:ext cx="106436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82174" y="4526280"/>
            <a:ext cx="99121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감사로그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MST-001 품목 / 공정 / 라우팅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식품/섬유 공정 흐름을 기준정보화하여 작업지시의 기반으로 사용합니다.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MST-001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/master/items, /master/routings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ADMIN, PRODUCTION_MANAGER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GET/POST /api/items, /api/processes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원료/반제품/완제품 품목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공정 및 라우팅 순서 설정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품목별 단위, 검사 기준, 보관 조건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공정별 사용 설비 매핑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사용 중 품목 삭제 제한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라우팅 변경 시 이력 관리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품목/라우팅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257800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94376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160008" y="238201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51448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88024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세척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153656" y="238201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45096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81672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147304" y="238201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238744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140952" y="238201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232392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68968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134600" y="238201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226040" y="2167128"/>
            <a:ext cx="8839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62616" y="2286000"/>
            <a:ext cx="810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257800" y="3172968"/>
            <a:ext cx="1371600" cy="53721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85232" y="3350247"/>
            <a:ext cx="131673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품목코드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6629400" y="3172968"/>
            <a:ext cx="1188720" cy="53721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56832" y="3350247"/>
            <a:ext cx="113385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818120" y="3172968"/>
            <a:ext cx="1005840" cy="53721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845552" y="3350247"/>
            <a:ext cx="95097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기본단위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823960" y="3172968"/>
            <a:ext cx="2468880" cy="53721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851392" y="3350247"/>
            <a:ext cx="241401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5257800" y="3710178"/>
            <a:ext cx="137160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85232" y="3887457"/>
            <a:ext cx="131673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RAW-HEMP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629400" y="3710178"/>
            <a:ext cx="118872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56832" y="3887457"/>
            <a:ext cx="113385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7818120" y="3710178"/>
            <a:ext cx="100584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45552" y="3887457"/>
            <a:ext cx="95097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823960" y="3710178"/>
            <a:ext cx="246888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851392" y="3887457"/>
            <a:ext cx="241401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식품가공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5257800" y="4247388"/>
            <a:ext cx="1371600" cy="53721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85232" y="4424667"/>
            <a:ext cx="131673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OIL-001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6629400" y="4247388"/>
            <a:ext cx="1188720" cy="53721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56832" y="4424667"/>
            <a:ext cx="113385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7818120" y="4247388"/>
            <a:ext cx="1005840" cy="53721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845552" y="4424667"/>
            <a:ext cx="95097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823960" y="4247388"/>
            <a:ext cx="2468880" cy="53721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851392" y="4424667"/>
            <a:ext cx="241401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추출/포장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5257800" y="4784598"/>
            <a:ext cx="137160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285232" y="4961877"/>
            <a:ext cx="131673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FIBER-001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6629400" y="4784598"/>
            <a:ext cx="118872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56832" y="4961877"/>
            <a:ext cx="113385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반제품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818120" y="4784598"/>
            <a:ext cx="100584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845552" y="4961877"/>
            <a:ext cx="95097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kg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8823960" y="4784598"/>
            <a:ext cx="2468880" cy="53721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51392" y="4961877"/>
            <a:ext cx="2414016" cy="1933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섬유가공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MST-002 설비 / 창고 / 위치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코드, 공정 매핑, 창고 위치를 기준정보로 관리합니다.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MST-002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/master/equipment, /master/warehouses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ADMIN, EQUIPMENT_MANAGER, WAREHOUSE_MANAGER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GET/POST /api/equipment, /api/warehouses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설비별 Topic 규칙 생성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설비코드, 라인, 공정, 상태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창고/구역/랙/셀 위치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설비와 공정 매핑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MQTT Topic Prefix 관리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설비코드는 Topic과 연결되므로 변경 제한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창고 위치는 재고 이력과 연결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설비/창고 기준정보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257800" y="2029968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217627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2578608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05272" y="262890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EQ-WASH-001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5532120" y="3054096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05272" y="3104388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EQ-DRY-001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532120" y="3529584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05272" y="357987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EQ-EXT-001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5532120" y="4005072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05272" y="405536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EQ-CARD-001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8321040" y="2029968"/>
            <a:ext cx="2788920" cy="329184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85632" y="2176272"/>
            <a:ext cx="2459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창고/위치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595360" y="2578608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68512" y="262890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원료창고 A-01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8595360" y="3054096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68512" y="3104388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반제품 B-02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8595360" y="3529584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68512" y="357987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C-01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8595360" y="4005072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68512" y="405536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부적합 Z-01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INV-001 원료 입고 / LOT 생성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입고 등록 후 LOT를 생성하고 검수 결과와 재고를 연결합니다.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/inventory/receivings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WAREHOUSE_MANAGER, QUALITY_MANAGER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/api/receivings/{id}/confirm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알림 Topic 선택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입고 예정/실입고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원료 LOT 자동 생성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검수 상태와 품질검사 연결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입고 확정 시 재고 트랜잭션 생성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입고 확정 후 수량 수정 제한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LOT 번호 중복 금지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입고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257800" y="2002536"/>
            <a:ext cx="1119226" cy="429768"/>
          </a:xfrm>
          <a:prstGeom prst="roundRect">
            <a:avLst>
              <a:gd name="adj" fmla="val 17021"/>
            </a:avLst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94376" y="2121408"/>
            <a:ext cx="10460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입고등록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95314" y="2217420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86754" y="2002536"/>
            <a:ext cx="1119226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3330" y="2121408"/>
            <a:ext cx="10460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624267" y="2217420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15707" y="2002536"/>
            <a:ext cx="1119226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52283" y="2121408"/>
            <a:ext cx="10460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LOT생성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53221" y="2217420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944661" y="2002536"/>
            <a:ext cx="1119226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81237" y="2121408"/>
            <a:ext cx="10460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재고등록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082174" y="2217420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173614" y="2002536"/>
            <a:ext cx="1119226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10190" y="2121408"/>
            <a:ext cx="104607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라벨출력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166360" y="2852928"/>
            <a:ext cx="1188720" cy="64008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3064154"/>
            <a:ext cx="11338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입고번호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6355080" y="2852928"/>
            <a:ext cx="1645920" cy="64008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82512" y="3064154"/>
            <a:ext cx="15910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8001000" y="2852928"/>
            <a:ext cx="914400" cy="64008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28432" y="306415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8915400" y="2852928"/>
            <a:ext cx="914400" cy="64008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42832" y="306415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9829800" y="2852928"/>
            <a:ext cx="1508760" cy="64008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857232" y="3064154"/>
            <a:ext cx="145389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5166360" y="3493008"/>
            <a:ext cx="11887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93792" y="3704234"/>
            <a:ext cx="11338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IN-001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6355080" y="3493008"/>
            <a:ext cx="16459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82512" y="3704234"/>
            <a:ext cx="15910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헴프 원료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8001000" y="3493008"/>
            <a:ext cx="91440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28432" y="370423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500kg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8915400" y="3493008"/>
            <a:ext cx="91440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942832" y="370423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9829800" y="3493008"/>
            <a:ext cx="150876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57232" y="3704234"/>
            <a:ext cx="145389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5166360" y="4133088"/>
            <a:ext cx="1188720" cy="64008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4344314"/>
            <a:ext cx="11338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IN-002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6355080" y="4133088"/>
            <a:ext cx="1645920" cy="64008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82512" y="4344314"/>
            <a:ext cx="159105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단섬유 원료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8001000" y="4133088"/>
            <a:ext cx="914400" cy="64008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028432" y="434431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300kg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8915400" y="4133088"/>
            <a:ext cx="914400" cy="64008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42832" y="4344314"/>
            <a:ext cx="85953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</a:t>
            </a:r>
            <a:endParaRPr lang="en-US" sz="680" dirty="0"/>
          </a:p>
        </p:txBody>
      </p:sp>
      <p:sp>
        <p:nvSpPr>
          <p:cNvPr id="73" name="Shape 71"/>
          <p:cNvSpPr/>
          <p:nvPr/>
        </p:nvSpPr>
        <p:spPr>
          <a:xfrm>
            <a:off x="9829800" y="4133088"/>
            <a:ext cx="1508760" cy="64008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57232" y="4344314"/>
            <a:ext cx="145389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LOT-002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6126480" y="5230368"/>
            <a:ext cx="411480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199632" y="5280660"/>
            <a:ext cx="3968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시 inventory_transactions 생성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INV-002 재고 조회 / 이동 / 조정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재고와 모든 재고 변동 이력을 추적합니다.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INV-002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/inventory/balances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WAREHOUSE_MANAGER, ADMIN, VIEWER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/api/inventory/balances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재고부족 알림 구독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품목/LOT/창고/위치별 재고 조회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입고, 투입, 이동, 조정, 폐기, 출고 이력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재고 조정 시 승인 및 사유 입력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부족 재고 대시보드 알림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현재 수량 직접 수정 금지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모든 변동은 트랜잭션으로 저장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조회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74920" y="2075688"/>
            <a:ext cx="1417320" cy="4800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223410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492240" y="2075688"/>
            <a:ext cx="1417320" cy="4800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9672" y="223410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909560" y="2075688"/>
            <a:ext cx="1143000" cy="4800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223410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052560" y="2075688"/>
            <a:ext cx="1143000" cy="4800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079992" y="223410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현재고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195560" y="2075688"/>
            <a:ext cx="1188720" cy="4800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22992" y="2234108"/>
            <a:ext cx="11338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74920" y="2555748"/>
            <a:ext cx="14173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271416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LOT-RAW-001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492240" y="2555748"/>
            <a:ext cx="14173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19672" y="271416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헴프 원료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909560" y="2555748"/>
            <a:ext cx="114300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936992" y="271416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A-01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052560" y="2555748"/>
            <a:ext cx="114300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079992" y="271416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120kg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195560" y="2555748"/>
            <a:ext cx="11887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222992" y="2714168"/>
            <a:ext cx="11338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074920" y="3035808"/>
            <a:ext cx="1417320" cy="4800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319422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LOT-OIL-003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492240" y="3035808"/>
            <a:ext cx="1417320" cy="4800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19672" y="319422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추출물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909560" y="3035808"/>
            <a:ext cx="1143000" cy="4800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36992" y="319422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B-02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052560" y="3035808"/>
            <a:ext cx="1143000" cy="4800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79992" y="319422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195560" y="3035808"/>
            <a:ext cx="1188720" cy="4800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22992" y="3194228"/>
            <a:ext cx="11338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074920" y="3515868"/>
            <a:ext cx="14173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02352" y="367428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LOT-FIB-010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492240" y="3515868"/>
            <a:ext cx="14173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19672" y="3674288"/>
            <a:ext cx="13624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섬유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7909560" y="3515868"/>
            <a:ext cx="114300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936992" y="367428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C-01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052560" y="3515868"/>
            <a:ext cx="114300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079992" y="3674288"/>
            <a:ext cx="108813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80kg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0195560" y="3515868"/>
            <a:ext cx="1188720" cy="4800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222992" y="3674288"/>
            <a:ext cx="1133856" cy="172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074920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11496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053328" y="47137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144768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181344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123176" y="47137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214616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51192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193024" y="47137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284464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321040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9262872" y="47137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9354312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390888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10332720" y="471373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10424160" y="4498848"/>
            <a:ext cx="96012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460736" y="4617720"/>
            <a:ext cx="886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PROD-001 생산계획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일자별 생산 목표와 품목별 계획을 관리하고 작업지시로 전환합니다.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/production/plans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PRODUCTION_MANAGER,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/api/production-plans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 변경 알림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일/주/월 단위 생산계획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품목별 목표 수량 설정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작업지시 생성 전환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계획 대비 실적 조회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확정 계획은 수정 이력 기록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작업지시 생성 후 삭제 제한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20640" y="2167128"/>
            <a:ext cx="109728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233812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일자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217920" y="2167128"/>
            <a:ext cx="155448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45352" y="233812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772400" y="2167128"/>
            <a:ext cx="100584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99832" y="233812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778240" y="2167128"/>
            <a:ext cx="155448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05672" y="233812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10332720" y="2167128"/>
            <a:ext cx="100584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60152" y="233812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120640" y="2685288"/>
            <a:ext cx="109728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48072" y="285628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06-16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17920" y="2685288"/>
            <a:ext cx="155448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285628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헴프오일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7772400" y="2685288"/>
            <a:ext cx="100584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99832" y="285628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200L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778240" y="2685288"/>
            <a:ext cx="155448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805672" y="285628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추출/포장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332720" y="2685288"/>
            <a:ext cx="100584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60152" y="285628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5120640" y="3203448"/>
            <a:ext cx="109728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8072" y="337444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06-17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217920" y="3203448"/>
            <a:ext cx="155448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45352" y="337444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섬유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772400" y="3203448"/>
            <a:ext cx="100584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99832" y="337444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400kg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778240" y="3203448"/>
            <a:ext cx="155448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805672" y="337444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개섬/정렬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332720" y="3203448"/>
            <a:ext cx="100584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60152" y="337444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486400" y="4361688"/>
            <a:ext cx="1266444" cy="429768"/>
          </a:xfrm>
          <a:prstGeom prst="roundRect">
            <a:avLst>
              <a:gd name="adj" fmla="val 17021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22976" y="4480560"/>
            <a:ext cx="11932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계획작성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771132" y="457657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862572" y="4361688"/>
            <a:ext cx="126644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9148" y="4480560"/>
            <a:ext cx="11932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계획확정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8147304" y="457657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8238744" y="4361688"/>
            <a:ext cx="126644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275320" y="4480560"/>
            <a:ext cx="11932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 생성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523476" y="4576572"/>
            <a:ext cx="73152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9614916" y="4361688"/>
            <a:ext cx="1266444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51492" y="4480560"/>
            <a:ext cx="11932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실적비교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PROD-002 작업지시 목록 / 상세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 기반 작업지시를 생성하고 원료 LOT, 설비, 작업자를 배정합니다.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/production/work-orders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PRODUCTION_MANAGER, WORKER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/api/work-orders/{id}/start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mes/ui/site/{site}/production/work-orders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작업지시 목록/상세 조회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원료 LOT 투입 지정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설비/작업자 배정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시작/정지/종료 상태 관리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 없는 작업자는 시작 불가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중 원료 LOT 변경 제한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74920" y="2029968"/>
            <a:ext cx="109728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02352" y="220096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6172200" y="2029968"/>
            <a:ext cx="155448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99632" y="220096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</a:t>
            </a:r>
            <a:endParaRPr lang="en-US" sz="670" dirty="0"/>
          </a:p>
        </p:txBody>
      </p:sp>
      <p:sp>
        <p:nvSpPr>
          <p:cNvPr id="35" name="Shape 33"/>
          <p:cNvSpPr/>
          <p:nvPr/>
        </p:nvSpPr>
        <p:spPr>
          <a:xfrm>
            <a:off x="7726680" y="2029968"/>
            <a:ext cx="96012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54112" y="2200961"/>
            <a:ext cx="9052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8686800" y="2029968"/>
            <a:ext cx="137160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14232" y="220096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670" dirty="0"/>
          </a:p>
        </p:txBody>
      </p:sp>
      <p:sp>
        <p:nvSpPr>
          <p:cNvPr id="39" name="Shape 37"/>
          <p:cNvSpPr/>
          <p:nvPr/>
        </p:nvSpPr>
        <p:spPr>
          <a:xfrm>
            <a:off x="10058400" y="2029968"/>
            <a:ext cx="128016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85832" y="220096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5074920" y="2548128"/>
            <a:ext cx="109728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271912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WO-001</a:t>
            </a:r>
            <a:endParaRPr lang="en-US" sz="670" dirty="0"/>
          </a:p>
        </p:txBody>
      </p:sp>
      <p:sp>
        <p:nvSpPr>
          <p:cNvPr id="43" name="Shape 41"/>
          <p:cNvSpPr/>
          <p:nvPr/>
        </p:nvSpPr>
        <p:spPr>
          <a:xfrm>
            <a:off x="6172200" y="2548128"/>
            <a:ext cx="155448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99632" y="271912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헴프오일</a:t>
            </a:r>
            <a:endParaRPr lang="en-US" sz="670" dirty="0"/>
          </a:p>
        </p:txBody>
      </p:sp>
      <p:sp>
        <p:nvSpPr>
          <p:cNvPr id="45" name="Shape 43"/>
          <p:cNvSpPr/>
          <p:nvPr/>
        </p:nvSpPr>
        <p:spPr>
          <a:xfrm>
            <a:off x="7726680" y="2548128"/>
            <a:ext cx="96012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754112" y="2719121"/>
            <a:ext cx="9052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670" dirty="0"/>
          </a:p>
        </p:txBody>
      </p:sp>
      <p:sp>
        <p:nvSpPr>
          <p:cNvPr id="47" name="Shape 45"/>
          <p:cNvSpPr/>
          <p:nvPr/>
        </p:nvSpPr>
        <p:spPr>
          <a:xfrm>
            <a:off x="8686800" y="2548128"/>
            <a:ext cx="137160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14232" y="271912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EQ-EXT-001</a:t>
            </a:r>
            <a:endParaRPr lang="en-US" sz="670" dirty="0"/>
          </a:p>
        </p:txBody>
      </p:sp>
      <p:sp>
        <p:nvSpPr>
          <p:cNvPr id="49" name="Shape 47"/>
          <p:cNvSpPr/>
          <p:nvPr/>
        </p:nvSpPr>
        <p:spPr>
          <a:xfrm>
            <a:off x="10058400" y="2548128"/>
            <a:ext cx="128016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85832" y="271912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김작업</a:t>
            </a:r>
            <a:endParaRPr lang="en-US" sz="670" dirty="0"/>
          </a:p>
        </p:txBody>
      </p:sp>
      <p:sp>
        <p:nvSpPr>
          <p:cNvPr id="51" name="Shape 49"/>
          <p:cNvSpPr/>
          <p:nvPr/>
        </p:nvSpPr>
        <p:spPr>
          <a:xfrm>
            <a:off x="5074920" y="3066288"/>
            <a:ext cx="109728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02352" y="3237281"/>
            <a:ext cx="10424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WO-002</a:t>
            </a:r>
            <a:endParaRPr lang="en-US" sz="670" dirty="0"/>
          </a:p>
        </p:txBody>
      </p:sp>
      <p:sp>
        <p:nvSpPr>
          <p:cNvPr id="53" name="Shape 51"/>
          <p:cNvSpPr/>
          <p:nvPr/>
        </p:nvSpPr>
        <p:spPr>
          <a:xfrm>
            <a:off x="6172200" y="3066288"/>
            <a:ext cx="155448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3237281"/>
            <a:ext cx="149961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섬유</a:t>
            </a:r>
            <a:endParaRPr lang="en-US" sz="670" dirty="0"/>
          </a:p>
        </p:txBody>
      </p:sp>
      <p:sp>
        <p:nvSpPr>
          <p:cNvPr id="55" name="Shape 53"/>
          <p:cNvSpPr/>
          <p:nvPr/>
        </p:nvSpPr>
        <p:spPr>
          <a:xfrm>
            <a:off x="7726680" y="3066288"/>
            <a:ext cx="96012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4112" y="3237281"/>
            <a:ext cx="9052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670" dirty="0"/>
          </a:p>
        </p:txBody>
      </p:sp>
      <p:sp>
        <p:nvSpPr>
          <p:cNvPr id="57" name="Shape 55"/>
          <p:cNvSpPr/>
          <p:nvPr/>
        </p:nvSpPr>
        <p:spPr>
          <a:xfrm>
            <a:off x="8686800" y="3066288"/>
            <a:ext cx="137160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14232" y="323728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EQ-CARD-001</a:t>
            </a:r>
            <a:endParaRPr lang="en-US" sz="670" dirty="0"/>
          </a:p>
        </p:txBody>
      </p:sp>
      <p:sp>
        <p:nvSpPr>
          <p:cNvPr id="59" name="Shape 57"/>
          <p:cNvSpPr/>
          <p:nvPr/>
        </p:nvSpPr>
        <p:spPr>
          <a:xfrm>
            <a:off x="10058400" y="3066288"/>
            <a:ext cx="128016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85832" y="323728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박작업</a:t>
            </a:r>
            <a:endParaRPr lang="en-US" sz="670" dirty="0"/>
          </a:p>
        </p:txBody>
      </p:sp>
      <p:sp>
        <p:nvSpPr>
          <p:cNvPr id="61" name="Shape 59"/>
          <p:cNvSpPr/>
          <p:nvPr/>
        </p:nvSpPr>
        <p:spPr>
          <a:xfrm>
            <a:off x="5074920" y="3904488"/>
            <a:ext cx="6263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39512" y="4050792"/>
            <a:ext cx="5934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작업지시 상세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349240" y="4407408"/>
            <a:ext cx="5303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LOT: RAW-001, RAW-002</a:t>
            </a:r>
            <a:endParaRPr lang="en-US" sz="740" dirty="0"/>
          </a:p>
        </p:txBody>
      </p:sp>
      <p:sp>
        <p:nvSpPr>
          <p:cNvPr id="64" name="Text 62"/>
          <p:cNvSpPr/>
          <p:nvPr/>
        </p:nvSpPr>
        <p:spPr>
          <a:xfrm>
            <a:off x="5349240" y="4727448"/>
            <a:ext cx="5303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라우팅: 세척 → 건조 → 추출 → 포장</a:t>
            </a:r>
            <a:endParaRPr lang="en-US" sz="740" dirty="0"/>
          </a:p>
        </p:txBody>
      </p:sp>
      <p:sp>
        <p:nvSpPr>
          <p:cNvPr id="65" name="Text 63"/>
          <p:cNvSpPr/>
          <p:nvPr/>
        </p:nvSpPr>
        <p:spPr>
          <a:xfrm>
            <a:off x="5349240" y="5047488"/>
            <a:ext cx="53035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상태변경: 시작 / 일시정지 / 완료</a:t>
            </a:r>
            <a:endParaRPr lang="en-US" sz="7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FIELD-001 현장 작업자 화면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작업자가 태블릿/현장 PC에서 작업 시작, 투입, 실적 등록을 빠르게 처리합니다.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/field/work-orders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/api/work-orders/{id}/process-results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알림, 작업지시 Topic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오늘 작업지시 보기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QR/바코드로 원료 LOT 스캔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공정별 생산량/불량량 입력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 종료 및 라벨 출력 요청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큰 버튼, 최소 입력 원칙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작업자 권한 범위만 표시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577840" y="2029968"/>
            <a:ext cx="530352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42432" y="2176272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WO-001 헴프오일 생산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97880" y="267004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34640"/>
            <a:ext cx="2057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시작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8321040" y="2670048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21040" y="2834640"/>
            <a:ext cx="2057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 스캔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5897880" y="3419856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584448"/>
            <a:ext cx="2057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입력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321040" y="3419856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21040" y="3584448"/>
            <a:ext cx="2057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등록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897880" y="4169664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97880" y="4334256"/>
            <a:ext cx="2057400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종료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PROD-003 공정실적 / 불량 / 폐기 입력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공정별 실제 생산량, 불량, 폐기, 비고를 기록합니다.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PROD-003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/production/process-results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WORKER, PRODUCTION_MANAGER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/api/work-orders/{id}/process-results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생산실적 갱신 알림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공정별 시작/종료 시간 기록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양품/불량/폐기 수량 입력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불량 코드와 사유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 상태와 작업실적 연결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완료된 공정 수정은 관리자 승인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수량 검증: 투입 대비 산출 확인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공정실적 등록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257800" y="2029968"/>
            <a:ext cx="603504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2176272"/>
            <a:ext cx="5705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실적 입력 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32120" y="257860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6309360" y="250545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1040" y="257860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시작시간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098280" y="250545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308152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종료시간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6309360" y="300837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308152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양품수량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9098280" y="300837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32120" y="358444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불량수량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6309360" y="351129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1040" y="358444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폐기수량</a:t>
            </a:r>
            <a:endParaRPr lang="en-US" sz="680" dirty="0"/>
          </a:p>
        </p:txBody>
      </p:sp>
      <p:sp>
        <p:nvSpPr>
          <p:cNvPr id="44" name="Shape 42"/>
          <p:cNvSpPr/>
          <p:nvPr/>
        </p:nvSpPr>
        <p:spPr>
          <a:xfrm>
            <a:off x="9098280" y="351129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408736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불량코드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6309360" y="401421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21040" y="4087368"/>
            <a:ext cx="685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비고</a:t>
            </a:r>
            <a:endParaRPr lang="en-US" sz="680" dirty="0"/>
          </a:p>
        </p:txBody>
      </p:sp>
      <p:sp>
        <p:nvSpPr>
          <p:cNvPr id="48" name="Shape 46"/>
          <p:cNvSpPr/>
          <p:nvPr/>
        </p:nvSpPr>
        <p:spPr>
          <a:xfrm>
            <a:off x="9098280" y="4014216"/>
            <a:ext cx="1508760" cy="2743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D8DEE9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LOT-001 LOT 추적 화면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원료 LOT에서 완제품 LOT까지 정방향/역방향 이력을 확인합니다.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/lots/{lotNo}/trace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ADMIN, PRODUCTION_MANAGER, QUALITY_MANAGER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/api/lots/{lotNo}/trace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원료 → 공정 → 완제품 정방향 추적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완제품 → 원료 역방향 추적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작업자, 설비, 품질검사 연결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리콜/부적합 원인 추적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LOT 삭제 금지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수정 이력과 감사로그 필수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 추적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46320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82896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RAW-001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870448" y="256489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61888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98464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WO-001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986016" y="256489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77456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세척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101584" y="256489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193024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217152" y="256489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308592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45168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332720" y="2564892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0424160" y="2350008"/>
            <a:ext cx="1005840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60736" y="2468880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FIN-001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4983480" y="3401568"/>
            <a:ext cx="6309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48072" y="3547872"/>
            <a:ext cx="5980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 상세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394960" y="3950208"/>
            <a:ext cx="53035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4000500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원료 LOT 2건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5394960" y="4288536"/>
            <a:ext cx="53035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68112" y="4338828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 1명 / 설비 3대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5394960" y="4626864"/>
            <a:ext cx="53035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68112" y="4677156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품질검사 합격 / 알람 없음</a:t>
            </a:r>
            <a:endParaRPr lang="en-US" sz="720" dirty="0"/>
          </a:p>
        </p:txBody>
      </p:sp>
      <p:sp>
        <p:nvSpPr>
          <p:cNvPr id="56" name="Shape 54"/>
          <p:cNvSpPr/>
          <p:nvPr/>
        </p:nvSpPr>
        <p:spPr>
          <a:xfrm>
            <a:off x="5394960" y="4965192"/>
            <a:ext cx="53035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68112" y="5015484"/>
            <a:ext cx="5157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이력 1건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EQP-001 설비 모니터링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설비의 현재 상태, 가동률, 알람을 실시간으로 표시합니다.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/equipment/monitoring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EQUIPMENT_MANAGER, ADMIN, VIEWER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/api/equipment/status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mes/ui/site/{site}/dashboard/equipment-summary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설비별 RUN/STOP/ERROR 상태 표시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가동률, 최근 알람, 현재 작업지시 표시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상태 Current 테이블 기반 빠른 조회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대시보드 집계 Topic 구독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세부 센서값은 장비 상세에서만 구독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확인은 REST API 처리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모니터링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075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30952" y="2221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추출기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669280" y="2551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78040" y="2075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2221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건조기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680960" y="2551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9189720" y="2075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54312" y="2221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카딩기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9692640" y="2551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166360" y="3218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30952" y="3364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포장기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669280" y="3694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178040" y="3218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42632" y="3364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세척기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680960" y="3694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189720" y="3218688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54312" y="3364992"/>
            <a:ext cx="1362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분쇄기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9692640" y="3694176"/>
            <a:ext cx="7315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EQP-002 장비 상세 / MQTT 접근 발급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상세 진입 시 Spring Boot가 Mosquitto 임시 계정과 ACL을 발급합니다.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/equipment/{id}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EQUIPMENT_MANAGER,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/api/equipment/{id}/mqtt-access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장비별 status/sensor/alarm Topic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장비 실시간 센서값 그래프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이력 및 현재 작업지시 표시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화면 진입 시 임시 MQTT 계정 발급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화면 이탈/TTL 만료 시 권한 회수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React Publish 금지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localStorage에 MQTT 비밀번호 저장 금지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상세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754880" y="1965960"/>
            <a:ext cx="1238098" cy="429768"/>
          </a:xfrm>
          <a:prstGeom prst="roundRect">
            <a:avLst>
              <a:gd name="adj" fmla="val 17021"/>
            </a:avLst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91456" y="2084832"/>
            <a:ext cx="1164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화면진입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011266" y="218084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02706" y="1965960"/>
            <a:ext cx="123809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39282" y="2084832"/>
            <a:ext cx="1164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요청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359091" y="218084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50531" y="1965960"/>
            <a:ext cx="123809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87107" y="2084832"/>
            <a:ext cx="1164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권한검증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706917" y="218084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798357" y="1965960"/>
            <a:ext cx="123809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34933" y="2084832"/>
            <a:ext cx="1164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임시계정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054742" y="2180844"/>
            <a:ext cx="73152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146182" y="1965960"/>
            <a:ext cx="123809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82758" y="2084832"/>
            <a:ext cx="116494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Subscribe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937760" y="3035808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18211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257800" y="4544568"/>
            <a:ext cx="201168" cy="27432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605272" y="4224528"/>
            <a:ext cx="201168" cy="5943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52744" y="4407408"/>
            <a:ext cx="201168" cy="4114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00216" y="3995928"/>
            <a:ext cx="201168" cy="82296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647688" y="4178808"/>
            <a:ext cx="201168" cy="64008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95160" y="3904488"/>
            <a:ext cx="201168" cy="914400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183880" y="3035808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348472" y="3182112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접속정보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549640" y="3584448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22792" y="3634740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clientId 고정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8549640" y="3931920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22792" y="3982212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 ACL만 부여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8549640" y="4279392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622792" y="4329684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TTL 300초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8549640" y="4626864"/>
            <a:ext cx="21488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22792" y="4677156"/>
            <a:ext cx="2002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이탈 시 회수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EQP-003 알람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알람 발생, 확인, 조치 이력을 관리합니다.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/equipment/alarms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EQUIPMENT_MANAGER, ADMIN, WORKER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 /api/equipment/alarms/{id}/ack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mes/ui/site/{site}/dashboard/alarms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발생/해제/확인 상태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등급, 설비, 발생시간 필터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조치 내용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확인 시 감사로그 저장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알람 확인은 MQTT Publish가 아닌 REST API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중요 알람은 QoS 1 권장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알람 관리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983480" y="2121408"/>
            <a:ext cx="82296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10912" y="2287372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806440" y="2121408"/>
            <a:ext cx="109728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28737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903720" y="2121408"/>
            <a:ext cx="182880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2287372"/>
            <a:ext cx="17739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8732520" y="2121408"/>
            <a:ext cx="109728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59952" y="228737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829800" y="2121408"/>
            <a:ext cx="155448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857232" y="2287372"/>
            <a:ext cx="14996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983480" y="2624328"/>
            <a:ext cx="822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10912" y="2790292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HIGH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806440" y="2624328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33872" y="279029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카딩기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903720" y="2624328"/>
            <a:ext cx="18288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31152" y="2790292"/>
            <a:ext cx="17739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모터 과부하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732520" y="2624328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59952" y="279029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미확인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829800" y="2624328"/>
            <a:ext cx="15544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857232" y="2790292"/>
            <a:ext cx="14996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4983480" y="3127248"/>
            <a:ext cx="82296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10912" y="3293212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806440" y="3127248"/>
            <a:ext cx="109728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833872" y="329321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추출기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903720" y="3127248"/>
            <a:ext cx="182880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31152" y="3293212"/>
            <a:ext cx="17739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 상한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732520" y="3127248"/>
            <a:ext cx="109728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759952" y="329321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조치중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829800" y="3127248"/>
            <a:ext cx="155448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857232" y="3293212"/>
            <a:ext cx="14996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983480" y="3630168"/>
            <a:ext cx="82296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10912" y="3796132"/>
            <a:ext cx="7680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LOW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5806440" y="3630168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33872" y="379613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포장기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6903720" y="3630168"/>
            <a:ext cx="18288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31152" y="3796132"/>
            <a:ext cx="17739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필름 부족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8732520" y="3630168"/>
            <a:ext cx="10972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759952" y="3796132"/>
            <a:ext cx="10424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829800" y="3630168"/>
            <a:ext cx="155448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857232" y="3796132"/>
            <a:ext cx="149961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보기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760720" y="5001768"/>
            <a:ext cx="466344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833872" y="5052060"/>
            <a:ext cx="45171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PATCH /api/equipment/alarms/{id}/ack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QMS-001 품질검사 / HACCP / CIP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입고, 공정, 완제품 검사와 위생/세척 기록을 관리합니다.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QMS-001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/quality/inspections, /haccp, /cip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QUALITY_MANAGER,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/api/quality-inspections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이상 알림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검사 항목과 결과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HACCP/CCP 기록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CIP 세척 기록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부적합 발생 시 생산/재고와 연결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검사 완료 후 수정 권한 제한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부적합은 LOT 상태에 반영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품질관리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20640" y="2350008"/>
            <a:ext cx="16459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93792" y="24003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입고검사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7132320" y="2350008"/>
            <a:ext cx="16459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05472" y="24003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C6D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공정검사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9144000" y="2350008"/>
            <a:ext cx="16459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17152" y="24003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완제품검사</a:t>
            </a:r>
            <a:endParaRPr lang="en-US" sz="720" dirty="0"/>
          </a:p>
        </p:txBody>
      </p:sp>
      <p:sp>
        <p:nvSpPr>
          <p:cNvPr id="37" name="Shape 35"/>
          <p:cNvSpPr/>
          <p:nvPr/>
        </p:nvSpPr>
        <p:spPr>
          <a:xfrm>
            <a:off x="5120640" y="3035808"/>
            <a:ext cx="16459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30861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HACCP/CCP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132320" y="3035808"/>
            <a:ext cx="1645920" cy="246888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05472" y="3086100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CIP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5212080" y="3995928"/>
            <a:ext cx="1463040" cy="34290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39512" y="41090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675120" y="3995928"/>
            <a:ext cx="1463040" cy="34290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02552" y="41090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138160" y="3995928"/>
            <a:ext cx="1463040" cy="34290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41090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601200" y="3995928"/>
            <a:ext cx="1645920" cy="34290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628632" y="4109085"/>
            <a:ext cx="15910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212080" y="43388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9512" y="44519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수분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675120" y="43388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702552" y="44519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≤ 10%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8138160" y="43388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65592" y="44519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8.7%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9601200" y="4338828"/>
            <a:ext cx="164592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28632" y="4451985"/>
            <a:ext cx="15910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212080" y="4681728"/>
            <a:ext cx="1463040" cy="34290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39512" y="47948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온도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675120" y="4681728"/>
            <a:ext cx="1463040" cy="34290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02552" y="47948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65~75℃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138160" y="4681728"/>
            <a:ext cx="1463040" cy="34290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65592" y="47948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76℃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601200" y="4681728"/>
            <a:ext cx="1645920" cy="34290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628632" y="4794885"/>
            <a:ext cx="15910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212080" y="50246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239512" y="51377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이물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675120" y="50246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02552" y="51377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138160" y="5024628"/>
            <a:ext cx="146304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165592" y="5137785"/>
            <a:ext cx="140817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없음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9601200" y="5024628"/>
            <a:ext cx="1645920" cy="34290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28632" y="5137785"/>
            <a:ext cx="159105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합격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EQP-004 장비 점검 / 유지보수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점검계획, 고장접수, 수리이력, 부품교체를 관리합니다.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EQP-004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/equipment/maintenance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EQUIPMENT_MANAGER,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/api/equipment/{id}/maintenance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점검/고장 알림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정기점검 계획 및 결과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고장 접수와 조치 상태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수리이력, 부품교체 이력 관리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설비 문서/사진 첨부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고장 종료 시 조치내용 필수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부품교체는 재고와 연계 가능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보전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029200" y="216712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228600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점검계획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203290" y="2382012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294730" y="216712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31306" y="228600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점검등록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468819" y="2382012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60259" y="216712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96835" y="228600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고장접수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734349" y="2382012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825789" y="216712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2365" y="228600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수리진행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999878" y="2382012"/>
            <a:ext cx="73152" cy="0"/>
          </a:xfrm>
          <a:prstGeom prst="line">
            <a:avLst/>
          </a:prstGeom>
          <a:noFill/>
          <a:ln w="12700">
            <a:solidFill>
              <a:srgbClr val="5CB85C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091318" y="216712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27894" y="228600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CB8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303520" y="3447288"/>
            <a:ext cx="1554480" cy="4724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30952" y="3603193"/>
            <a:ext cx="14996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858000" y="3447288"/>
            <a:ext cx="1371600" cy="4724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85432" y="360319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229600" y="3447288"/>
            <a:ext cx="1371600" cy="4724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57032" y="360319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9601200" y="3447288"/>
            <a:ext cx="1463040" cy="47244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628632" y="3603193"/>
            <a:ext cx="140817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303520" y="3919728"/>
            <a:ext cx="1554480" cy="4724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30952" y="4075633"/>
            <a:ext cx="14996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EQ-EXT-001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858000" y="3919728"/>
            <a:ext cx="1371600" cy="4724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85432" y="407563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정기점검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229600" y="3919728"/>
            <a:ext cx="1371600" cy="4724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57032" y="407563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예정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9601200" y="3919728"/>
            <a:ext cx="1463040" cy="47244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628632" y="4075633"/>
            <a:ext cx="140817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이설비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303520" y="4392168"/>
            <a:ext cx="1554480" cy="4724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30952" y="4548073"/>
            <a:ext cx="149961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EQ-CARD-001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6858000" y="4392168"/>
            <a:ext cx="1371600" cy="4724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85432" y="454807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고장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8229600" y="4392168"/>
            <a:ext cx="1371600" cy="4724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257032" y="4548073"/>
            <a:ext cx="131673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601200" y="4392168"/>
            <a:ext cx="1463040" cy="47244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28632" y="4548073"/>
            <a:ext cx="1408176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박보전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SHIP-001 완제품 출고 관리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완제품 LOT 출고를 처리하고 출고 이력을 LOT 추적에 연결합니다.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SHIP-001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/shipments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WAREHOUSE_MANAGER,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/api/shipments/{id}/confirm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완료 알림 선택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출고 요청/지시 등록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완제품 LOT 선택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출고 확정 시 재고 차감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출고 라벨/거래명세 조회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재고 부족 시 확정 불가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출고 확정 후 취소는 승인 필요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 관리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166360" y="212140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2936" y="224028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출고요청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40450" y="233629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431890" y="212140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8466" y="224028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LOT선택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605979" y="233629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697419" y="212140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33995" y="224028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검수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8871509" y="233629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962949" y="212140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99525" y="224028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출고확정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137038" y="2336292"/>
            <a:ext cx="7315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228478" y="2121408"/>
            <a:ext cx="1155802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65054" y="2240280"/>
            <a:ext cx="10826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재고차감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5074920" y="3218688"/>
            <a:ext cx="118872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389681"/>
            <a:ext cx="11338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출고번호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263640" y="3218688"/>
            <a:ext cx="137160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91072" y="338968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LOT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635240" y="3218688"/>
            <a:ext cx="100584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62672" y="338968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수량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641080" y="3218688"/>
            <a:ext cx="128016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668512" y="338968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거래처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921240" y="3218688"/>
            <a:ext cx="1463040" cy="51816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948672" y="3389681"/>
            <a:ext cx="14081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5074920" y="3736848"/>
            <a:ext cx="118872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02352" y="3907841"/>
            <a:ext cx="11338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SH-001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263640" y="3736848"/>
            <a:ext cx="137160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91072" y="390784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FIN-001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7635240" y="3736848"/>
            <a:ext cx="100584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62672" y="390784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80L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8641080" y="3736848"/>
            <a:ext cx="128016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668512" y="390784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9921240" y="3736848"/>
            <a:ext cx="1463040" cy="51816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48672" y="3907841"/>
            <a:ext cx="14081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5074920" y="4255008"/>
            <a:ext cx="118872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02352" y="4426001"/>
            <a:ext cx="113385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SH-002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263640" y="4255008"/>
            <a:ext cx="137160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91072" y="4426001"/>
            <a:ext cx="131673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FIN-002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7635240" y="4255008"/>
            <a:ext cx="100584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662672" y="4426001"/>
            <a:ext cx="9509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120kg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8641080" y="4255008"/>
            <a:ext cx="128016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668512" y="4426001"/>
            <a:ext cx="122529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기관B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9921240" y="4255008"/>
            <a:ext cx="1463040" cy="51816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948672" y="4426001"/>
            <a:ext cx="1408176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SEC-001 감사로그 / 보안 이벤트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중요 업무 변경과 보안 이벤트를 추적합니다.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72" y="1399032"/>
            <a:ext cx="2688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정의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" y="176479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097280" y="17647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SEC-001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6072" y="21488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1097280" y="21488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/admin/audit-logs, /admin/security-events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576072" y="253288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097280" y="253288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SUPER_ADMIN, ADMIN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576072" y="291693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097280" y="291693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 /api/admin/audit-logs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576072" y="3300984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0A6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33009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알림 Topic 선택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576072" y="3840480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1C6DD0"/>
          </a:solidFill>
          <a:ln w="12700">
            <a:solidFill>
              <a:srgbClr val="1C6D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" y="3890772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4360" y="4206240"/>
            <a:ext cx="26517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로그인 성공/실패, 계정잠금 조회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권한 변경, 재고 조정, 실적 수정 로그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MQTT 접근 발급/거부 이력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Rate Limit 초과 이벤트 조회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576072" y="5385816"/>
            <a:ext cx="914400" cy="228600"/>
          </a:xfrm>
          <a:prstGeom prst="roundRect">
            <a:avLst>
              <a:gd name="adj" fmla="val 24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5436108"/>
            <a:ext cx="7680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검증/제약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5751576"/>
            <a:ext cx="26517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감사로그 삭제 금지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민감 이벤트는 관리자 알림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749040" y="1252728"/>
            <a:ext cx="7909560" cy="507492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0" y="1252728"/>
            <a:ext cx="7909560" cy="34747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71600"/>
            <a:ext cx="91440" cy="91440"/>
          </a:xfrm>
          <a:prstGeom prst="ellipse">
            <a:avLst/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13716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1371600"/>
            <a:ext cx="91440" cy="91440"/>
          </a:xfrm>
          <a:prstGeom prst="ellipse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34840" y="1353312"/>
            <a:ext cx="6995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감사로그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4892040" y="2075688"/>
            <a:ext cx="118872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9472" y="224165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</a:t>
            </a:r>
            <a:endParaRPr lang="en-US" sz="680" dirty="0"/>
          </a:p>
        </p:txBody>
      </p:sp>
      <p:sp>
        <p:nvSpPr>
          <p:cNvPr id="33" name="Shape 31"/>
          <p:cNvSpPr/>
          <p:nvPr/>
        </p:nvSpPr>
        <p:spPr>
          <a:xfrm>
            <a:off x="6080760" y="2075688"/>
            <a:ext cx="118872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08192" y="224165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269480" y="2075688"/>
            <a:ext cx="137160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96912" y="224165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641080" y="2075688"/>
            <a:ext cx="137160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68512" y="224165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10012680" y="2075688"/>
            <a:ext cx="1463040" cy="502920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40112" y="2241652"/>
            <a:ext cx="14081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892040" y="2578608"/>
            <a:ext cx="11887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74457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09:12</a:t>
            </a:r>
            <a:endParaRPr lang="en-US" sz="680" dirty="0"/>
          </a:p>
        </p:txBody>
      </p:sp>
      <p:sp>
        <p:nvSpPr>
          <p:cNvPr id="43" name="Shape 41"/>
          <p:cNvSpPr/>
          <p:nvPr/>
        </p:nvSpPr>
        <p:spPr>
          <a:xfrm>
            <a:off x="6080760" y="2578608"/>
            <a:ext cx="11887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08192" y="274457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680" dirty="0"/>
          </a:p>
        </p:txBody>
      </p:sp>
      <p:sp>
        <p:nvSpPr>
          <p:cNvPr id="45" name="Shape 43"/>
          <p:cNvSpPr/>
          <p:nvPr/>
        </p:nvSpPr>
        <p:spPr>
          <a:xfrm>
            <a:off x="7269480" y="2578608"/>
            <a:ext cx="13716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96912" y="274457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권한변경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8641080" y="2578608"/>
            <a:ext cx="13716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68512" y="274457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user12</a:t>
            </a:r>
            <a:endParaRPr lang="en-US" sz="680" dirty="0"/>
          </a:p>
        </p:txBody>
      </p:sp>
      <p:sp>
        <p:nvSpPr>
          <p:cNvPr id="49" name="Shape 47"/>
          <p:cNvSpPr/>
          <p:nvPr/>
        </p:nvSpPr>
        <p:spPr>
          <a:xfrm>
            <a:off x="10012680" y="2578608"/>
            <a:ext cx="14630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040112" y="2744572"/>
            <a:ext cx="14081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</a:t>
            </a:r>
            <a:endParaRPr lang="en-US" sz="680" dirty="0"/>
          </a:p>
        </p:txBody>
      </p:sp>
      <p:sp>
        <p:nvSpPr>
          <p:cNvPr id="51" name="Shape 49"/>
          <p:cNvSpPr/>
          <p:nvPr/>
        </p:nvSpPr>
        <p:spPr>
          <a:xfrm>
            <a:off x="4892040" y="3081528"/>
            <a:ext cx="118872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19472" y="324749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09:20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6080760" y="3081528"/>
            <a:ext cx="118872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324749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kim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7269480" y="3081528"/>
            <a:ext cx="137160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96912" y="324749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로그인실패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8641080" y="3081528"/>
            <a:ext cx="137160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668512" y="324749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10012680" y="3081528"/>
            <a:ext cx="1463040" cy="502920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40112" y="3247492"/>
            <a:ext cx="14081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4892040" y="3584448"/>
            <a:ext cx="11887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19472" y="375041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09:31</a:t>
            </a:r>
            <a:endParaRPr lang="en-US" sz="680" dirty="0"/>
          </a:p>
        </p:txBody>
      </p:sp>
      <p:sp>
        <p:nvSpPr>
          <p:cNvPr id="63" name="Shape 61"/>
          <p:cNvSpPr/>
          <p:nvPr/>
        </p:nvSpPr>
        <p:spPr>
          <a:xfrm>
            <a:off x="6080760" y="3584448"/>
            <a:ext cx="118872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108192" y="3750412"/>
            <a:ext cx="1133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park</a:t>
            </a:r>
            <a:endParaRPr lang="en-US" sz="680" dirty="0"/>
          </a:p>
        </p:txBody>
      </p:sp>
      <p:sp>
        <p:nvSpPr>
          <p:cNvPr id="65" name="Shape 63"/>
          <p:cNvSpPr/>
          <p:nvPr/>
        </p:nvSpPr>
        <p:spPr>
          <a:xfrm>
            <a:off x="7269480" y="3584448"/>
            <a:ext cx="13716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296912" y="375041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MQTT권한요청</a:t>
            </a:r>
            <a:endParaRPr lang="en-US" sz="680" dirty="0"/>
          </a:p>
        </p:txBody>
      </p:sp>
      <p:sp>
        <p:nvSpPr>
          <p:cNvPr id="67" name="Shape 65"/>
          <p:cNvSpPr/>
          <p:nvPr/>
        </p:nvSpPr>
        <p:spPr>
          <a:xfrm>
            <a:off x="8641080" y="3584448"/>
            <a:ext cx="137160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68512" y="3750412"/>
            <a:ext cx="131673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EQ-001</a:t>
            </a:r>
            <a:endParaRPr lang="en-US" sz="680" dirty="0"/>
          </a:p>
        </p:txBody>
      </p:sp>
      <p:sp>
        <p:nvSpPr>
          <p:cNvPr id="69" name="Shape 67"/>
          <p:cNvSpPr/>
          <p:nvPr/>
        </p:nvSpPr>
        <p:spPr>
          <a:xfrm>
            <a:off x="10012680" y="3584448"/>
            <a:ext cx="1463040" cy="502920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40112" y="3750412"/>
            <a:ext cx="140817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</a:t>
            </a:r>
            <a:endParaRPr lang="en-US" sz="680" dirty="0"/>
          </a:p>
        </p:txBody>
      </p:sp>
      <p:sp>
        <p:nvSpPr>
          <p:cNvPr id="71" name="Shape 69"/>
          <p:cNvSpPr/>
          <p:nvPr/>
        </p:nvSpPr>
        <p:spPr>
          <a:xfrm>
            <a:off x="5212080" y="4681728"/>
            <a:ext cx="1100938" cy="429768"/>
          </a:xfrm>
          <a:prstGeom prst="roundRect">
            <a:avLst>
              <a:gd name="adj" fmla="val 17021"/>
            </a:avLst>
          </a:prstGeom>
          <a:solidFill>
            <a:srgbClr val="E94F37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48656" y="4800600"/>
            <a:ext cx="1027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6331306" y="4896612"/>
            <a:ext cx="73152" cy="0"/>
          </a:xfrm>
          <a:prstGeom prst="line">
            <a:avLst/>
          </a:prstGeom>
          <a:noFill/>
          <a:ln w="12700">
            <a:solidFill>
              <a:srgbClr val="E94F37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6422746" y="4681728"/>
            <a:ext cx="110093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59322" y="4800600"/>
            <a:ext cx="1027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541971" y="4896612"/>
            <a:ext cx="73152" cy="0"/>
          </a:xfrm>
          <a:prstGeom prst="line">
            <a:avLst/>
          </a:prstGeom>
          <a:noFill/>
          <a:ln w="12700">
            <a:solidFill>
              <a:srgbClr val="E94F37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>
            <a:off x="7633411" y="4681728"/>
            <a:ext cx="110093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69987" y="4800600"/>
            <a:ext cx="1027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8752637" y="4896612"/>
            <a:ext cx="73152" cy="0"/>
          </a:xfrm>
          <a:prstGeom prst="line">
            <a:avLst/>
          </a:prstGeom>
          <a:noFill/>
          <a:ln w="12700">
            <a:solidFill>
              <a:srgbClr val="E94F37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8844077" y="4681728"/>
            <a:ext cx="110093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880653" y="4800600"/>
            <a:ext cx="1027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9963302" y="4896612"/>
            <a:ext cx="73152" cy="0"/>
          </a:xfrm>
          <a:prstGeom prst="line">
            <a:avLst/>
          </a:prstGeom>
          <a:noFill/>
          <a:ln w="12700">
            <a:solidFill>
              <a:srgbClr val="E94F37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10054742" y="4681728"/>
            <a:ext cx="1100938" cy="429768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2700">
            <a:solidFill>
              <a:srgbClr val="E94F37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91318" y="4800600"/>
            <a:ext cx="102778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94F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 접근 권한 발급 흐름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Mosquitto Dynamic Security를 기준으로 한 실시간 데이터 접근 제어 시퀀스입니다.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143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289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35608" y="1828800"/>
            <a:ext cx="0" cy="438912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143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E6FF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289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1828800"/>
            <a:ext cx="0" cy="438912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57800" y="1143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1289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07608" y="1828800"/>
            <a:ext cx="0" cy="438912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143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1289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Mosquitto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156448" y="1828800"/>
            <a:ext cx="0" cy="438912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38360" y="1143000"/>
            <a:ext cx="15087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2952" y="1289304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Topic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0488168" y="1828800"/>
            <a:ext cx="0" cy="4389120"/>
          </a:xfrm>
          <a:prstGeom prst="line">
            <a:avLst/>
          </a:prstGeom>
          <a:noFill/>
          <a:ln w="12700">
            <a:solidFill>
              <a:srgbClr val="D8DE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35608" y="2194560"/>
            <a:ext cx="224028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572768" y="2048256"/>
            <a:ext cx="1965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구독 요청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75888" y="2724912"/>
            <a:ext cx="233172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3813048" y="2578608"/>
            <a:ext cx="2057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권한/세션 확인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75888" y="3255264"/>
            <a:ext cx="4480560" cy="0"/>
          </a:xfrm>
          <a:prstGeom prst="line">
            <a:avLst/>
          </a:prstGeom>
          <a:noFill/>
          <a:ln w="12700">
            <a:solidFill>
              <a:srgbClr val="00A6A6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813048" y="3108960"/>
            <a:ext cx="42062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Client/ACL 생성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1435608" y="3785616"/>
            <a:ext cx="2240280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572768" y="3639312"/>
            <a:ext cx="19659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접속정보 반환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435608" y="4315968"/>
            <a:ext cx="6720840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1572768" y="4169664"/>
            <a:ext cx="6446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Subscribe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56448" y="4846320"/>
            <a:ext cx="2331720" cy="0"/>
          </a:xfrm>
          <a:prstGeom prst="line">
            <a:avLst/>
          </a:prstGeom>
          <a:noFill/>
          <a:ln w="12700">
            <a:solidFill>
              <a:srgbClr val="1C6DD0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8293608" y="4700016"/>
            <a:ext cx="20574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ACL 확인 후 전달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" y="5623560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FFF4E5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5769864"/>
            <a:ext cx="10597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Topic은 고정, 임시 계정과 ACL만 생성/삭제 · React Publish 금지 · TTL 만료 시 Disable/Delete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권한 매트릭스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Role별 기본 메뉴 접근권한의 초안입니다. 세부 권한은 Permission 단위로 확장합니다.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173736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44615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endParaRPr lang="en-US" sz="690" dirty="0"/>
          </a:p>
        </p:txBody>
      </p:sp>
      <p:sp>
        <p:nvSpPr>
          <p:cNvPr id="10" name="Shape 8"/>
          <p:cNvSpPr/>
          <p:nvPr/>
        </p:nvSpPr>
        <p:spPr>
          <a:xfrm>
            <a:off x="2331720" y="1280160"/>
            <a:ext cx="100584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9152" y="1444615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SUPER</a:t>
            </a:r>
            <a:endParaRPr lang="en-US" sz="690" dirty="0"/>
          </a:p>
        </p:txBody>
      </p:sp>
      <p:sp>
        <p:nvSpPr>
          <p:cNvPr id="12" name="Shape 10"/>
          <p:cNvSpPr/>
          <p:nvPr/>
        </p:nvSpPr>
        <p:spPr>
          <a:xfrm>
            <a:off x="33375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42519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93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690" dirty="0"/>
          </a:p>
        </p:txBody>
      </p:sp>
      <p:sp>
        <p:nvSpPr>
          <p:cNvPr id="16" name="Shape 14"/>
          <p:cNvSpPr/>
          <p:nvPr/>
        </p:nvSpPr>
        <p:spPr>
          <a:xfrm>
            <a:off x="51663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937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작업자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60807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690" dirty="0"/>
          </a:p>
        </p:txBody>
      </p:sp>
      <p:sp>
        <p:nvSpPr>
          <p:cNvPr id="20" name="Shape 18"/>
          <p:cNvSpPr/>
          <p:nvPr/>
        </p:nvSpPr>
        <p:spPr>
          <a:xfrm>
            <a:off x="69951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79095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369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창고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8823960" y="1280160"/>
            <a:ext cx="914400" cy="498348"/>
          </a:xfrm>
          <a:prstGeom prst="rect">
            <a:avLst/>
          </a:prstGeom>
          <a:solidFill>
            <a:srgbClr val="12355B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51392" y="144461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94360" y="1778508"/>
            <a:ext cx="173736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1942963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2331720" y="1778508"/>
            <a:ext cx="100584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59152" y="1942963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33375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649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32" name="Shape 30"/>
          <p:cNvSpPr/>
          <p:nvPr/>
        </p:nvSpPr>
        <p:spPr>
          <a:xfrm>
            <a:off x="42519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93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51663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36" name="Shape 34"/>
          <p:cNvSpPr/>
          <p:nvPr/>
        </p:nvSpPr>
        <p:spPr>
          <a:xfrm>
            <a:off x="60807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081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69951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225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79095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8823960" y="1778508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51392" y="194296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44" name="Shape 42"/>
          <p:cNvSpPr/>
          <p:nvPr/>
        </p:nvSpPr>
        <p:spPr>
          <a:xfrm>
            <a:off x="594360" y="2276856"/>
            <a:ext cx="173736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" y="2441311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사용자/권한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2331720" y="2276856"/>
            <a:ext cx="100584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59152" y="2441311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48" name="Shape 46"/>
          <p:cNvSpPr/>
          <p:nvPr/>
        </p:nvSpPr>
        <p:spPr>
          <a:xfrm>
            <a:off x="33375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649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42519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93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52" name="Shape 50"/>
          <p:cNvSpPr/>
          <p:nvPr/>
        </p:nvSpPr>
        <p:spPr>
          <a:xfrm>
            <a:off x="51663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937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60807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81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56" name="Shape 54"/>
          <p:cNvSpPr/>
          <p:nvPr/>
        </p:nvSpPr>
        <p:spPr>
          <a:xfrm>
            <a:off x="69951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225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79095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369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60" name="Shape 58"/>
          <p:cNvSpPr/>
          <p:nvPr/>
        </p:nvSpPr>
        <p:spPr>
          <a:xfrm>
            <a:off x="8823960" y="2276856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851392" y="244131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62" name="Shape 60"/>
          <p:cNvSpPr/>
          <p:nvPr/>
        </p:nvSpPr>
        <p:spPr>
          <a:xfrm>
            <a:off x="594360" y="2775204"/>
            <a:ext cx="173736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2939659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기준정보</a:t>
            </a:r>
            <a:endParaRPr lang="en-US" sz="690" dirty="0"/>
          </a:p>
        </p:txBody>
      </p:sp>
      <p:sp>
        <p:nvSpPr>
          <p:cNvPr id="64" name="Shape 62"/>
          <p:cNvSpPr/>
          <p:nvPr/>
        </p:nvSpPr>
        <p:spPr>
          <a:xfrm>
            <a:off x="2331720" y="2775204"/>
            <a:ext cx="100584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359152" y="2939659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66" name="Shape 64"/>
          <p:cNvSpPr/>
          <p:nvPr/>
        </p:nvSpPr>
        <p:spPr>
          <a:xfrm>
            <a:off x="33375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649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68" name="Shape 66"/>
          <p:cNvSpPr/>
          <p:nvPr/>
        </p:nvSpPr>
        <p:spPr>
          <a:xfrm>
            <a:off x="42519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793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70" name="Shape 68"/>
          <p:cNvSpPr/>
          <p:nvPr/>
        </p:nvSpPr>
        <p:spPr>
          <a:xfrm>
            <a:off x="51663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937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72" name="Shape 70"/>
          <p:cNvSpPr/>
          <p:nvPr/>
        </p:nvSpPr>
        <p:spPr>
          <a:xfrm>
            <a:off x="60807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081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74" name="Shape 72"/>
          <p:cNvSpPr/>
          <p:nvPr/>
        </p:nvSpPr>
        <p:spPr>
          <a:xfrm>
            <a:off x="69951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0225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76" name="Shape 74"/>
          <p:cNvSpPr/>
          <p:nvPr/>
        </p:nvSpPr>
        <p:spPr>
          <a:xfrm>
            <a:off x="79095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369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78" name="Shape 76"/>
          <p:cNvSpPr/>
          <p:nvPr/>
        </p:nvSpPr>
        <p:spPr>
          <a:xfrm>
            <a:off x="8823960" y="2775204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51392" y="293965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80" name="Shape 78"/>
          <p:cNvSpPr/>
          <p:nvPr/>
        </p:nvSpPr>
        <p:spPr>
          <a:xfrm>
            <a:off x="594360" y="3273552"/>
            <a:ext cx="173736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21792" y="3438007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입고/재고</a:t>
            </a:r>
            <a:endParaRPr lang="en-US" sz="690" dirty="0"/>
          </a:p>
        </p:txBody>
      </p:sp>
      <p:sp>
        <p:nvSpPr>
          <p:cNvPr id="82" name="Shape 80"/>
          <p:cNvSpPr/>
          <p:nvPr/>
        </p:nvSpPr>
        <p:spPr>
          <a:xfrm>
            <a:off x="2331720" y="3273552"/>
            <a:ext cx="100584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359152" y="3438007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84" name="Shape 82"/>
          <p:cNvSpPr/>
          <p:nvPr/>
        </p:nvSpPr>
        <p:spPr>
          <a:xfrm>
            <a:off x="33375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3649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86" name="Shape 84"/>
          <p:cNvSpPr/>
          <p:nvPr/>
        </p:nvSpPr>
        <p:spPr>
          <a:xfrm>
            <a:off x="42519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2793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88" name="Shape 86"/>
          <p:cNvSpPr/>
          <p:nvPr/>
        </p:nvSpPr>
        <p:spPr>
          <a:xfrm>
            <a:off x="51663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937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90" name="Shape 88"/>
          <p:cNvSpPr/>
          <p:nvPr/>
        </p:nvSpPr>
        <p:spPr>
          <a:xfrm>
            <a:off x="60807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081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92" name="Shape 90"/>
          <p:cNvSpPr/>
          <p:nvPr/>
        </p:nvSpPr>
        <p:spPr>
          <a:xfrm>
            <a:off x="69951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0225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94" name="Shape 92"/>
          <p:cNvSpPr/>
          <p:nvPr/>
        </p:nvSpPr>
        <p:spPr>
          <a:xfrm>
            <a:off x="79095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9369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96" name="Shape 94"/>
          <p:cNvSpPr/>
          <p:nvPr/>
        </p:nvSpPr>
        <p:spPr>
          <a:xfrm>
            <a:off x="8823960" y="3273552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851392" y="343800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594360" y="3771900"/>
            <a:ext cx="173736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21792" y="3936355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생산계획/작업지시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2331720" y="3771900"/>
            <a:ext cx="100584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359152" y="3936355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02" name="Shape 100"/>
          <p:cNvSpPr/>
          <p:nvPr/>
        </p:nvSpPr>
        <p:spPr>
          <a:xfrm>
            <a:off x="33375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649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04" name="Shape 102"/>
          <p:cNvSpPr/>
          <p:nvPr/>
        </p:nvSpPr>
        <p:spPr>
          <a:xfrm>
            <a:off x="42519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2793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06" name="Shape 104"/>
          <p:cNvSpPr/>
          <p:nvPr/>
        </p:nvSpPr>
        <p:spPr>
          <a:xfrm>
            <a:off x="51663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1937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108" name="Shape 106"/>
          <p:cNvSpPr/>
          <p:nvPr/>
        </p:nvSpPr>
        <p:spPr>
          <a:xfrm>
            <a:off x="60807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081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69951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0225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12" name="Shape 110"/>
          <p:cNvSpPr/>
          <p:nvPr/>
        </p:nvSpPr>
        <p:spPr>
          <a:xfrm>
            <a:off x="79095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79369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14" name="Shape 112"/>
          <p:cNvSpPr/>
          <p:nvPr/>
        </p:nvSpPr>
        <p:spPr>
          <a:xfrm>
            <a:off x="8823960" y="3771900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8851392" y="3936355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16" name="Shape 114"/>
          <p:cNvSpPr/>
          <p:nvPr/>
        </p:nvSpPr>
        <p:spPr>
          <a:xfrm>
            <a:off x="594360" y="4270248"/>
            <a:ext cx="173736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21792" y="4434703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작업</a:t>
            </a:r>
            <a:endParaRPr lang="en-US" sz="690" dirty="0"/>
          </a:p>
        </p:txBody>
      </p:sp>
      <p:sp>
        <p:nvSpPr>
          <p:cNvPr id="118" name="Shape 116"/>
          <p:cNvSpPr/>
          <p:nvPr/>
        </p:nvSpPr>
        <p:spPr>
          <a:xfrm>
            <a:off x="2331720" y="4270248"/>
            <a:ext cx="100584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2359152" y="4434703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20" name="Shape 118"/>
          <p:cNvSpPr/>
          <p:nvPr/>
        </p:nvSpPr>
        <p:spPr>
          <a:xfrm>
            <a:off x="33375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3649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22" name="Shape 120"/>
          <p:cNvSpPr/>
          <p:nvPr/>
        </p:nvSpPr>
        <p:spPr>
          <a:xfrm>
            <a:off x="42519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2793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24" name="Shape 122"/>
          <p:cNvSpPr/>
          <p:nvPr/>
        </p:nvSpPr>
        <p:spPr>
          <a:xfrm>
            <a:off x="51663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1937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26" name="Shape 124"/>
          <p:cNvSpPr/>
          <p:nvPr/>
        </p:nvSpPr>
        <p:spPr>
          <a:xfrm>
            <a:off x="60807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081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28" name="Shape 126"/>
          <p:cNvSpPr/>
          <p:nvPr/>
        </p:nvSpPr>
        <p:spPr>
          <a:xfrm>
            <a:off x="69951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0225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30" name="Shape 128"/>
          <p:cNvSpPr/>
          <p:nvPr/>
        </p:nvSpPr>
        <p:spPr>
          <a:xfrm>
            <a:off x="79095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9369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32" name="Shape 130"/>
          <p:cNvSpPr/>
          <p:nvPr/>
        </p:nvSpPr>
        <p:spPr>
          <a:xfrm>
            <a:off x="8823960" y="4270248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8851392" y="4434703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34" name="Shape 132"/>
          <p:cNvSpPr/>
          <p:nvPr/>
        </p:nvSpPr>
        <p:spPr>
          <a:xfrm>
            <a:off x="594360" y="4768596"/>
            <a:ext cx="173736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621792" y="4933051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품질/HACCP</a:t>
            </a:r>
            <a:endParaRPr lang="en-US" sz="690" dirty="0"/>
          </a:p>
        </p:txBody>
      </p:sp>
      <p:sp>
        <p:nvSpPr>
          <p:cNvPr id="136" name="Shape 134"/>
          <p:cNvSpPr/>
          <p:nvPr/>
        </p:nvSpPr>
        <p:spPr>
          <a:xfrm>
            <a:off x="2331720" y="4768596"/>
            <a:ext cx="100584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2359152" y="4933051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38" name="Shape 136"/>
          <p:cNvSpPr/>
          <p:nvPr/>
        </p:nvSpPr>
        <p:spPr>
          <a:xfrm>
            <a:off x="33375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3649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40" name="Shape 138"/>
          <p:cNvSpPr/>
          <p:nvPr/>
        </p:nvSpPr>
        <p:spPr>
          <a:xfrm>
            <a:off x="42519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2793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42" name="Shape 140"/>
          <p:cNvSpPr/>
          <p:nvPr/>
        </p:nvSpPr>
        <p:spPr>
          <a:xfrm>
            <a:off x="51663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1937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44" name="Shape 142"/>
          <p:cNvSpPr/>
          <p:nvPr/>
        </p:nvSpPr>
        <p:spPr>
          <a:xfrm>
            <a:off x="60807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081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46" name="Shape 144"/>
          <p:cNvSpPr/>
          <p:nvPr/>
        </p:nvSpPr>
        <p:spPr>
          <a:xfrm>
            <a:off x="69951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70225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48" name="Shape 146"/>
          <p:cNvSpPr/>
          <p:nvPr/>
        </p:nvSpPr>
        <p:spPr>
          <a:xfrm>
            <a:off x="79095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79369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50" name="Shape 148"/>
          <p:cNvSpPr/>
          <p:nvPr/>
        </p:nvSpPr>
        <p:spPr>
          <a:xfrm>
            <a:off x="8823960" y="4768596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8851392" y="4933051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52" name="Shape 150"/>
          <p:cNvSpPr/>
          <p:nvPr/>
        </p:nvSpPr>
        <p:spPr>
          <a:xfrm>
            <a:off x="594360" y="5266944"/>
            <a:ext cx="173736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621792" y="5431399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설비 모니터링</a:t>
            </a:r>
            <a:endParaRPr lang="en-US" sz="690" dirty="0"/>
          </a:p>
        </p:txBody>
      </p:sp>
      <p:sp>
        <p:nvSpPr>
          <p:cNvPr id="154" name="Shape 152"/>
          <p:cNvSpPr/>
          <p:nvPr/>
        </p:nvSpPr>
        <p:spPr>
          <a:xfrm>
            <a:off x="2331720" y="5266944"/>
            <a:ext cx="100584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359152" y="5431399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56" name="Shape 154"/>
          <p:cNvSpPr/>
          <p:nvPr/>
        </p:nvSpPr>
        <p:spPr>
          <a:xfrm>
            <a:off x="33375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3649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58" name="Shape 156"/>
          <p:cNvSpPr/>
          <p:nvPr/>
        </p:nvSpPr>
        <p:spPr>
          <a:xfrm>
            <a:off x="42519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2793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60" name="Shape 158"/>
          <p:cNvSpPr/>
          <p:nvPr/>
        </p:nvSpPr>
        <p:spPr>
          <a:xfrm>
            <a:off x="51663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1937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690" dirty="0"/>
          </a:p>
        </p:txBody>
      </p:sp>
      <p:sp>
        <p:nvSpPr>
          <p:cNvPr id="162" name="Shape 160"/>
          <p:cNvSpPr/>
          <p:nvPr/>
        </p:nvSpPr>
        <p:spPr>
          <a:xfrm>
            <a:off x="60807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61081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64" name="Shape 162"/>
          <p:cNvSpPr/>
          <p:nvPr/>
        </p:nvSpPr>
        <p:spPr>
          <a:xfrm>
            <a:off x="69951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0225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66" name="Shape 164"/>
          <p:cNvSpPr/>
          <p:nvPr/>
        </p:nvSpPr>
        <p:spPr>
          <a:xfrm>
            <a:off x="79095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9369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68" name="Shape 166"/>
          <p:cNvSpPr/>
          <p:nvPr/>
        </p:nvSpPr>
        <p:spPr>
          <a:xfrm>
            <a:off x="8823960" y="5266944"/>
            <a:ext cx="914400" cy="498348"/>
          </a:xfrm>
          <a:prstGeom prst="rect">
            <a:avLst/>
          </a:prstGeom>
          <a:solidFill>
            <a:srgbClr val="F8FAFC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8851392" y="5431399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70" name="Shape 168"/>
          <p:cNvSpPr/>
          <p:nvPr/>
        </p:nvSpPr>
        <p:spPr>
          <a:xfrm>
            <a:off x="594360" y="5765292"/>
            <a:ext cx="173736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621792" y="5929747"/>
            <a:ext cx="168249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감사/보안</a:t>
            </a:r>
            <a:endParaRPr lang="en-US" sz="690" dirty="0"/>
          </a:p>
        </p:txBody>
      </p:sp>
      <p:sp>
        <p:nvSpPr>
          <p:cNvPr id="172" name="Shape 170"/>
          <p:cNvSpPr/>
          <p:nvPr/>
        </p:nvSpPr>
        <p:spPr>
          <a:xfrm>
            <a:off x="2331720" y="5765292"/>
            <a:ext cx="100584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359152" y="5929747"/>
            <a:ext cx="95097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74" name="Shape 172"/>
          <p:cNvSpPr/>
          <p:nvPr/>
        </p:nvSpPr>
        <p:spPr>
          <a:xfrm>
            <a:off x="33375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33649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0" dirty="0">
                <a:solidFill>
                  <a:srgbClr val="1D2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690" dirty="0"/>
          </a:p>
        </p:txBody>
      </p:sp>
      <p:sp>
        <p:nvSpPr>
          <p:cNvPr id="176" name="Shape 174"/>
          <p:cNvSpPr/>
          <p:nvPr/>
        </p:nvSpPr>
        <p:spPr>
          <a:xfrm>
            <a:off x="42519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42793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78" name="Shape 176"/>
          <p:cNvSpPr/>
          <p:nvPr/>
        </p:nvSpPr>
        <p:spPr>
          <a:xfrm>
            <a:off x="51663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51937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0" name="Shape 178"/>
          <p:cNvSpPr/>
          <p:nvPr/>
        </p:nvSpPr>
        <p:spPr>
          <a:xfrm>
            <a:off x="60807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61081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2" name="Shape 180"/>
          <p:cNvSpPr/>
          <p:nvPr/>
        </p:nvSpPr>
        <p:spPr>
          <a:xfrm>
            <a:off x="69951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0225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4" name="Shape 182"/>
          <p:cNvSpPr/>
          <p:nvPr/>
        </p:nvSpPr>
        <p:spPr>
          <a:xfrm>
            <a:off x="79095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9369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6" name="Shape 184"/>
          <p:cNvSpPr/>
          <p:nvPr/>
        </p:nvSpPr>
        <p:spPr>
          <a:xfrm>
            <a:off x="8823960" y="5765292"/>
            <a:ext cx="914400" cy="498348"/>
          </a:xfrm>
          <a:prstGeom prst="rect">
            <a:avLst/>
          </a:prstGeom>
          <a:solidFill>
            <a:srgbClr val="FFFFFF"/>
          </a:solidFill>
          <a:ln w="5715">
            <a:solidFill>
              <a:srgbClr val="D8DEE9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8851392" y="5929747"/>
            <a:ext cx="859536" cy="179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endParaRPr lang="en-US" sz="690" dirty="0"/>
          </a:p>
        </p:txBody>
      </p:sp>
      <p:sp>
        <p:nvSpPr>
          <p:cNvPr id="188" name="Text 186"/>
          <p:cNvSpPr/>
          <p:nvPr/>
        </p:nvSpPr>
        <p:spPr>
          <a:xfrm>
            <a:off x="685800" y="6355080"/>
            <a:ext cx="50292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 전체 접근  △ 조회/제한 접근  빈칸 접근 불가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우선순위 및 산출물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429768" y="8686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화면정의서 이후 ERD, API 명세, MQTT Topic/ACL 명세를 순차 확정합니다.</a:t>
            </a:r>
            <a:endParaRPr lang="en-US" sz="880" dirty="0"/>
          </a:p>
        </p:txBody>
      </p:sp>
      <p:sp>
        <p:nvSpPr>
          <p:cNvPr id="6" name="Text 4"/>
          <p:cNvSpPr/>
          <p:nvPr/>
        </p:nvSpPr>
        <p:spPr>
          <a:xfrm>
            <a:off x="411480" y="6665976"/>
            <a:ext cx="3840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HEMP-MES 화면정의서 v0.1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1475720" y="666597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E6FFFB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721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85623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인증/권한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0392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로그인, 메뉴, 사용자, Role, Redis 세션</a:t>
            </a:r>
            <a:endParaRPr lang="en-US" sz="710" dirty="0"/>
          </a:p>
        </p:txBody>
      </p:sp>
      <p:sp>
        <p:nvSpPr>
          <p:cNvPr id="12" name="Shape 10"/>
          <p:cNvSpPr/>
          <p:nvPr/>
        </p:nvSpPr>
        <p:spPr>
          <a:xfrm>
            <a:off x="3474720" y="13258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4721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39312" y="185623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기준정보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39312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품목, 공정, 라우팅, 설비, 창고</a:t>
            </a:r>
            <a:endParaRPr lang="en-US" sz="710" dirty="0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4721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185623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LOT/재고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28232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입고, LOT, 재고 트랜잭션, 출고</a:t>
            </a:r>
            <a:endParaRPr lang="en-US" sz="710" dirty="0"/>
          </a:p>
        </p:txBody>
      </p:sp>
      <p:sp>
        <p:nvSpPr>
          <p:cNvPr id="20" name="Shape 18"/>
          <p:cNvSpPr/>
          <p:nvPr/>
        </p:nvSpPr>
        <p:spPr>
          <a:xfrm>
            <a:off x="9052560" y="132588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17152" y="147218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17152" y="185623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17152" y="222199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생산계획, 작업지시, 현장작업, 실적</a:t>
            </a:r>
            <a:endParaRPr lang="en-US" sz="710" dirty="0"/>
          </a:p>
        </p:txBody>
      </p:sp>
      <p:sp>
        <p:nvSpPr>
          <p:cNvPr id="24" name="Shape 22"/>
          <p:cNvSpPr/>
          <p:nvPr/>
        </p:nvSpPr>
        <p:spPr>
          <a:xfrm>
            <a:off x="685800" y="34747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36210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50392" y="400507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MQTT/설비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50392" y="437083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Mosquitto, Dynamic Security, 모니터링</a:t>
            </a:r>
            <a:endParaRPr lang="en-US" sz="710" dirty="0"/>
          </a:p>
        </p:txBody>
      </p:sp>
      <p:sp>
        <p:nvSpPr>
          <p:cNvPr id="28" name="Shape 26"/>
          <p:cNvSpPr/>
          <p:nvPr/>
        </p:nvSpPr>
        <p:spPr>
          <a:xfrm>
            <a:off x="3474720" y="34747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36210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6단계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39312" y="400507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품질/보전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39312" y="437083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검사, HACCP, CIP, 점검/수리</a:t>
            </a:r>
            <a:endParaRPr lang="en-US" sz="710" dirty="0"/>
          </a:p>
        </p:txBody>
      </p:sp>
      <p:sp>
        <p:nvSpPr>
          <p:cNvPr id="32" name="Shape 30"/>
          <p:cNvSpPr/>
          <p:nvPr/>
        </p:nvSpPr>
        <p:spPr>
          <a:xfrm>
            <a:off x="6263640" y="3474720"/>
            <a:ext cx="24688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8232" y="3621024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7단계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28232" y="4005072"/>
            <a:ext cx="2057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28232" y="4370832"/>
            <a:ext cx="20574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710" dirty="0">
                <a:solidFill>
                  <a:srgbClr val="667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대시보드, 감사로그, 리포트, 튜닝</a:t>
            </a:r>
            <a:endParaRPr lang="en-US" sz="710" dirty="0"/>
          </a:p>
        </p:txBody>
      </p:sp>
      <p:sp>
        <p:nvSpPr>
          <p:cNvPr id="36" name="Text 34"/>
          <p:cNvSpPr/>
          <p:nvPr/>
        </p:nvSpPr>
        <p:spPr>
          <a:xfrm>
            <a:off x="685800" y="6172200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산출물: 상세 ERD → API 명세서 → MQTT Topic/ACL 명세서 → 화면별 상세 입력항목 정의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HEMP-MES 화면정의서</dc:title>
  <dc:subject>HEMP-MES 화면정의서</dc:subject>
  <dc:creator>OpenAI</dc:creator>
  <cp:lastModifiedBy>OpenAI</cp:lastModifiedBy>
  <cp:revision>1</cp:revision>
  <dcterms:created xsi:type="dcterms:W3CDTF">2026-06-16T00:24:59Z</dcterms:created>
  <dcterms:modified xsi:type="dcterms:W3CDTF">2026-06-16T00:24:59Z</dcterms:modified>
</cp:coreProperties>
</file>